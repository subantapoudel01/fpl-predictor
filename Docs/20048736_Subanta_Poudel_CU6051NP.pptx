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AD6C1-FA1A-43B6-5A43-5EE931549A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65AEF-2406-B271-A403-D162A13FE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B8EF2-EA76-BE57-782C-A3E3E3D1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AF2B-9AB9-4C86-BD03-03821292E6B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438AF-F875-DFA5-E40C-D34B137E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C5BD5-AEC5-50A9-8730-D8BBCA968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EBD4-4C93-4886-B2B8-C63AE33D2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53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2CFC1-10DF-7645-D344-3767A081F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323A0-98F3-E169-0808-8FAA116B1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DADFA-CA9C-D243-F95E-C513A0BD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AF2B-9AB9-4C86-BD03-03821292E6B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405FC-D2EB-20BD-546F-D0C848985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A3DD5-CF0B-01E9-F3FB-CD4E38E5A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EBD4-4C93-4886-B2B8-C63AE33D2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5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7B5E3-BD50-1CF3-7D08-67DB9DD76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CB54F-A532-4C6C-4D3E-61B49E60F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91ACF-0B31-C361-F91E-6FE300E16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AF2B-9AB9-4C86-BD03-03821292E6B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CF5C0-78BA-1E76-30D3-EB2FC43D1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81E9E-C0B8-6177-0957-257A3543E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EBD4-4C93-4886-B2B8-C63AE33D2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3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A8A2C-2CDF-57D3-D52F-1D3FB0FE7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4954F-2642-BF52-21DC-DF241FA000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DEF87-2B7B-5D2D-D3B6-8CACE5588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51768-241B-4FE1-C442-41B5F1267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AF2B-9AB9-4C86-BD03-03821292E6B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79EB2-1020-9896-B80F-A87F70D4F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F74F4-1023-053C-0346-5E0290403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EBD4-4C93-4886-B2B8-C63AE33D2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762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690B-6CCE-87C8-DF61-F1C3DD09E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013D5-3DA8-2B83-6BB3-6B0478A3C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12C75-B4BE-E1FF-EAD3-118AC7F2E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CE6A78-2979-2D3A-8EB7-F3DD86B3AD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0E187B-4F3F-685D-AA77-EF490E0F18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F012D7-CF81-6A97-B2AC-9488A59CA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AF2B-9AB9-4C86-BD03-03821292E6B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596609-3D1C-6A5F-CDC2-434DE5E31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7387FD-1ACD-D453-970A-1BF057CBF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EBD4-4C93-4886-B2B8-C63AE33D2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784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F109-438F-D48C-2060-E2D154E91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9A4B7B-AAE2-AAA5-4A83-1B9C6BDF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AF2B-9AB9-4C86-BD03-03821292E6B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E33F2E-0E45-A14D-A3D7-A6760FB66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3F608E-94B6-C4B8-5533-4E797A0A3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EBD4-4C93-4886-B2B8-C63AE33D2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600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E07E5D-B0B0-1FBE-DCCD-163ED2264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AF2B-9AB9-4C86-BD03-03821292E6B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B2926-6AFF-611B-AAEB-0481F0063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90F5D-142D-9173-4DE2-7874B6FBA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EBD4-4C93-4886-B2B8-C63AE33D2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70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18543-0B13-57C5-972F-CB2C5C349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DF002-3C95-AFC6-662A-30180321C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0776B-7557-3860-C025-3D9BCFB0E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CE661-A3D7-5552-C0BC-255B3FD96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AF2B-9AB9-4C86-BD03-03821292E6B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0398B-27DC-9D71-7E93-88F9F4656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80185-8EF2-23DC-1878-55B53BB6A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EBD4-4C93-4886-B2B8-C63AE33D2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8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3CDDE-5B73-B72E-632C-573460A3B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0FC2EE-411C-F50C-42D1-FEC4D8C855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C4591-C9FC-F4BF-64F8-C52FBC7C2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A2928-C72A-9BA2-8388-84508AE63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AF2B-9AB9-4C86-BD03-03821292E6B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8CC5A-C3A1-72FB-6ED8-1DB759DD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6B0C7-76EB-7843-0899-83CF1E0A3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EBD4-4C93-4886-B2B8-C63AE33D2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580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5B08E-E1AE-CF22-6A9A-B6FA9C90A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37E896-2DB1-9D11-BA40-6D6137F42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199B7-D476-C81D-835C-88109326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AF2B-9AB9-4C86-BD03-03821292E6B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0F245-7064-9D45-4B8D-5C9599DF2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C7128-EF15-7E2D-69D6-C1431D9F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EBD4-4C93-4886-B2B8-C63AE33D2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02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7E3E07-B1E5-C8D8-B2E9-23DC88C6F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3E3B3A-AD6A-D5FB-BD4D-2FE998283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E5027-D649-4953-2CEA-861B7C39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AF2B-9AB9-4C86-BD03-03821292E6B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779F3-FDD6-F622-5D09-84C285180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1B20C-D017-5911-1D95-80D5CF714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EBD4-4C93-4886-B2B8-C63AE33D2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6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4D479-39FA-B7B0-A484-2EA170773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30B3B-4C5A-FAEC-CAE8-EEA838332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B5D49-73F9-927E-0BC4-6A322F4B3C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BDAF2B-9AB9-4C86-BD03-03821292E6B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3F14E-A10D-5654-D639-24E0808AFE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3EBD2-A2F5-2E3F-3036-004E05664E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EAEBD4-4C93-4886-B2B8-C63AE33D2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5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EC303-A51E-06FD-B860-960708CEA1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Catalan FPL Predictor: A Hybrid Approach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AE218A-E508-D3F1-00DE-ABD5C86AA9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Combating Cognitive Bias with Machine Learning &amp; Expert Systems</a:t>
            </a:r>
          </a:p>
          <a:p>
            <a:r>
              <a:rPr lang="en-US" dirty="0"/>
              <a:t>Student Name: Subanta Poudel</a:t>
            </a:r>
          </a:p>
          <a:p>
            <a:r>
              <a:rPr lang="en-US" dirty="0"/>
              <a:t>ID: 20048736</a:t>
            </a:r>
          </a:p>
          <a:p>
            <a:r>
              <a:rPr lang="en-US" dirty="0"/>
              <a:t>Module : CU6051NP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3282255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0B77C-0358-D5E4-77EE-411CC777F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 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D1C0B3-8537-2BE8-BED7-CADE37D1C9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31806"/>
            <a:ext cx="1036995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Goal: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Explain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why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you built this.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The Context: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Fantasy Premier League (FPL) has 11M+ players globally.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The Problem: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Human decision-making is flawed by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Cognitive Biases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: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Recency Bias: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"He scored last week, so he must be good."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Club Bias: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Overvaluing players from supported teams.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The Objective: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Create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Rational AI Agent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that predicts points based purely on data, not emotion.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101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4BF36-27EB-A6FF-4567-14245449A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8DC485-FC67-B0EF-8341-643D92AA0E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70243"/>
            <a:ext cx="9763378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Algorithm Selected: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Multiple Linear Regression.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Why Regression?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We are predicting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continuous variable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(Points), not a category (Win/Loss).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Evidence from Research: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Exploratory Data Analysis (EDA) showed a linear relationship between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Form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Points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Correlation: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ICT Index had a strong positive correlation (0.25) with points.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The limitation: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Pure regression is "naive"—it assumes if a player is fit, they will play. Football doesn't work like that.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52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FE794-09B1-7521-55AC-676C7F4EF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Solution: Hybrid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20E881-822F-E756-ED38-F621F1B3D7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70030"/>
            <a:ext cx="8001934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Concept: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Hybrid AI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(Machine Learning + Rule-Based System).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Layer 1: The Statistical Base (ML)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Uses Linear Regression on historical data (75k+ rows).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Predicts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Raw Performance Potential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Layer 2: The Contextual Layer (Expert System)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Rotation Risk: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Penalizes cheap attackers at big clubs (The "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Semenyo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Rule").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Fixture Difficulty: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Boosts players vs. weak defenses (e.g., Southampton).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Starter Probability: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Sigmoid curve penalizing players with &lt;45 mins avg.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061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3F5B4-FD99-AA62-6370-8A233B691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BB484E2-1F74-F5CD-54D0-6CD2200B44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1312" y="4058054"/>
            <a:ext cx="574246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Input: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Live FPL API (JSON).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Processing: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Data Loader: Fetches &amp; Cleans data.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Intersection Merge: Unifies 2016-2024 data schemas.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Analysis: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Feature Engineering (Lagged Form, Rolling Averages).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Prediction Pipeline (Model + Expert Rules).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Output: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Streamlit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Dashboard.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555391-C022-C66D-1CB7-94CB4E4A03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402" y="1398872"/>
            <a:ext cx="6192033" cy="336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658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72AF6-A57A-7E67-4A7D-F77F0213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26130-3E52-9096-8E3D-6B555A6D1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IF </a:t>
            </a:r>
            <a:r>
              <a:rPr lang="en-GB" dirty="0" err="1"/>
              <a:t>player.team</a:t>
            </a:r>
            <a:r>
              <a:rPr lang="en-GB" dirty="0"/>
              <a:t> in ["MCI", "ARS"] AND price &lt; 9.0:</a:t>
            </a:r>
          </a:p>
          <a:p>
            <a:r>
              <a:rPr lang="en-GB" dirty="0"/>
              <a:t>    </a:t>
            </a:r>
            <a:r>
              <a:rPr lang="en-GB" dirty="0" err="1"/>
              <a:t>rotation_penalty</a:t>
            </a:r>
            <a:r>
              <a:rPr lang="en-GB" dirty="0"/>
              <a:t> = 0.75  # 25% Reduction</a:t>
            </a:r>
          </a:p>
          <a:p>
            <a:r>
              <a:rPr lang="en-GB" dirty="0"/>
              <a:t>ELSE:</a:t>
            </a:r>
          </a:p>
          <a:p>
            <a:r>
              <a:rPr lang="en-GB" dirty="0"/>
              <a:t>    </a:t>
            </a:r>
            <a:r>
              <a:rPr lang="en-GB" dirty="0" err="1"/>
              <a:t>rotation_penalty</a:t>
            </a:r>
            <a:r>
              <a:rPr lang="en-GB" dirty="0"/>
              <a:t> = 1.0</a:t>
            </a:r>
          </a:p>
          <a:p>
            <a:endParaRPr lang="en-GB" dirty="0"/>
          </a:p>
          <a:p>
            <a:r>
              <a:rPr lang="en-GB" dirty="0" err="1"/>
              <a:t>Final_Score</a:t>
            </a:r>
            <a:r>
              <a:rPr lang="en-GB" dirty="0"/>
              <a:t> = (</a:t>
            </a:r>
            <a:r>
              <a:rPr lang="en-GB" dirty="0" err="1"/>
              <a:t>Base_Regression</a:t>
            </a:r>
            <a:r>
              <a:rPr lang="en-GB" dirty="0"/>
              <a:t> * </a:t>
            </a:r>
            <a:r>
              <a:rPr lang="en-GB" dirty="0" err="1"/>
              <a:t>Fixture_Multiplier</a:t>
            </a:r>
            <a:r>
              <a:rPr lang="en-GB" dirty="0"/>
              <a:t>) * </a:t>
            </a:r>
            <a:r>
              <a:rPr lang="en-GB" dirty="0" err="1"/>
              <a:t>rotation_penalty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517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B6F0B-A5CB-34E3-4521-757C7CAC8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Demonstration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718036-A347-3243-CA59-7CD7AEE34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825" y="2531593"/>
            <a:ext cx="5405015" cy="2936018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63047B-9B73-0273-F7F2-A83B270C9F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82" y="2433579"/>
            <a:ext cx="5561303" cy="283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64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39352-9145-AEE2-9B20-EC294CDA1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A2B094-07C0-66BF-9FF6-7B3A1DE6B4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77917"/>
            <a:ext cx="962135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Success Metrics: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RMSE: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~2.16 (Competitive with paid tools).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Backtesting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Successfully identified "Hauls" (Haaland GW22) and "Flops" (Rotated players).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Limitations: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No Price Prediction: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Cannot foresee market value changes.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Injury Lag: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Relies on API flags; cannot read press conference news.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Linear Assumption: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Cannot predict sudden "moments of magic" (Non-linear events)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514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155D7-2331-5172-169B-BBC6A0F4C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5A27F2-DFFB-1B66-7DC7-CB47F1BCED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585798"/>
            <a:ext cx="1061617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NLP Integration: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Scrape Twitter/Reddit for early injury news before the official API updates.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Neural Networks: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Use LSTMs (Long Short-Term Memory) to track player form sequences better than simple rolling averages.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Optimization Algorithm: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 Add a "Knapsack Problem" solver to automatically pick the best full squad within the £100m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budget.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92093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537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Google Sans Text</vt:lpstr>
      <vt:lpstr>Office Theme</vt:lpstr>
      <vt:lpstr>Catalan FPL Predictor: A Hybrid Approach</vt:lpstr>
      <vt:lpstr>The Problem </vt:lpstr>
      <vt:lpstr>Methodology </vt:lpstr>
      <vt:lpstr>The Solution: Hybrid Architecture</vt:lpstr>
      <vt:lpstr>System Architecture</vt:lpstr>
      <vt:lpstr>PseudoCode</vt:lpstr>
      <vt:lpstr>App Demonstration</vt:lpstr>
      <vt:lpstr>Results 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subanta poudel</dc:creator>
  <cp:lastModifiedBy>subanta poudel</cp:lastModifiedBy>
  <cp:revision>4</cp:revision>
  <dcterms:created xsi:type="dcterms:W3CDTF">2026-01-06T10:45:34Z</dcterms:created>
  <dcterms:modified xsi:type="dcterms:W3CDTF">2026-07-29T07:39:28Z</dcterms:modified>
</cp:coreProperties>
</file>